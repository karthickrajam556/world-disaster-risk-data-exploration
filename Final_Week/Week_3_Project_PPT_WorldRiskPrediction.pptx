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9331"/>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5067E9C-C7B9-4476-9708-CBB3F66FD892}"/>
              </a:ext>
            </a:extLst>
          </p:cNvPr>
          <p:cNvSpPr txBox="1"/>
          <p:nvPr/>
        </p:nvSpPr>
        <p:spPr>
          <a:xfrm>
            <a:off x="4646109" y="3429000"/>
            <a:ext cx="6870861" cy="1200329"/>
          </a:xfrm>
          <a:prstGeom prst="rect">
            <a:avLst/>
          </a:prstGeom>
          <a:noFill/>
        </p:spPr>
        <p:txBody>
          <a:bodyPr wrap="square" rtlCol="0">
            <a:spAutoFit/>
          </a:bodyPr>
          <a:lstStyle/>
          <a:p>
            <a:pPr algn="r"/>
            <a:r>
              <a:rPr lang="en-US" sz="3600" dirty="0">
                <a:solidFill>
                  <a:schemeClr val="bg1"/>
                </a:solidFill>
                <a:latin typeface="Times New Roman" panose="02020603050405020304" pitchFamily="18" charset="0"/>
                <a:cs typeface="Times New Roman" panose="02020603050405020304" pitchFamily="18" charset="0"/>
              </a:rPr>
              <a:t>World Risk Index Prediction using Machine Learning</a:t>
            </a:r>
            <a:endParaRPr lang="en-US" sz="3600" b="1" dirty="0">
              <a:solidFill>
                <a:schemeClr val="bg1"/>
              </a:solidFill>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8" name="Rectangle 1">
            <a:extLst>
              <a:ext uri="{FF2B5EF4-FFF2-40B4-BE49-F238E27FC236}">
                <a16:creationId xmlns:a16="http://schemas.microsoft.com/office/drawing/2014/main" id="{44E86CCE-C936-EB35-35D9-3F0AC008E1F9}"/>
              </a:ext>
            </a:extLst>
          </p:cNvPr>
          <p:cNvSpPr>
            <a:spLocks noChangeArrowheads="1"/>
          </p:cNvSpPr>
          <p:nvPr/>
        </p:nvSpPr>
        <p:spPr bwMode="auto">
          <a:xfrm rot="10800000" flipV="1">
            <a:off x="525832" y="1498921"/>
            <a:ext cx="647440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understand and clean real-world datasets (World Risk Index).</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apply ML algorithms for disaster risk classification.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evaluate the model using accuracy, classification report, and confusion matrix.</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deploy the trained ML model for predictions</a:t>
            </a: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0" y="741092"/>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sp>
        <p:nvSpPr>
          <p:cNvPr id="4" name="TextBox 3">
            <a:extLst>
              <a:ext uri="{FF2B5EF4-FFF2-40B4-BE49-F238E27FC236}">
                <a16:creationId xmlns:a16="http://schemas.microsoft.com/office/drawing/2014/main" id="{6409FD46-C652-FD88-F39A-1E43832F8E30}"/>
              </a:ext>
            </a:extLst>
          </p:cNvPr>
          <p:cNvSpPr txBox="1"/>
          <p:nvPr/>
        </p:nvSpPr>
        <p:spPr>
          <a:xfrm>
            <a:off x="146585" y="1141202"/>
            <a:ext cx="11912082" cy="5632311"/>
          </a:xfrm>
          <a:prstGeom prst="rect">
            <a:avLst/>
          </a:prstGeom>
          <a:noFill/>
        </p:spPr>
        <p:txBody>
          <a:bodyPr wrap="square">
            <a:spAutoFit/>
          </a:bodyPr>
          <a:lstStyle/>
          <a:p>
            <a:pPr algn="just">
              <a:buNone/>
            </a:pPr>
            <a:r>
              <a:rPr lang="en-US" sz="1800" b="1" dirty="0">
                <a:latin typeface="Times New Roman" panose="02020603050405020304" pitchFamily="18" charset="0"/>
                <a:cs typeface="Times New Roman" panose="02020603050405020304" pitchFamily="18" charset="0"/>
              </a:rPr>
              <a:t>1. Programming Language – Python</a:t>
            </a:r>
            <a:endParaRPr lang="en-US" sz="1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Python is widely used in Machine Learning because it is simple, easy to read, and has many libraries for data analysis and ML.</a:t>
            </a:r>
          </a:p>
          <a:p>
            <a:pPr marL="285750" indent="-285750"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 your project, Python was used for data cleaning, model building, and deployment.</a:t>
            </a:r>
          </a:p>
          <a:p>
            <a:pPr algn="just">
              <a:buNone/>
            </a:pPr>
            <a:r>
              <a:rPr lang="en-US" sz="1800" b="1" dirty="0">
                <a:latin typeface="Times New Roman" panose="02020603050405020304" pitchFamily="18" charset="0"/>
                <a:cs typeface="Times New Roman" panose="02020603050405020304" pitchFamily="18" charset="0"/>
              </a:rPr>
              <a:t>2. Libraries</a:t>
            </a:r>
            <a:endParaRPr lang="en-US" sz="1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Pandas</a:t>
            </a:r>
            <a:r>
              <a:rPr lang="en-US" sz="1800" dirty="0">
                <a:latin typeface="Times New Roman" panose="02020603050405020304" pitchFamily="18" charset="0"/>
                <a:cs typeface="Times New Roman" panose="02020603050405020304" pitchFamily="18" charset="0"/>
              </a:rPr>
              <a:t>  – Used to load the dataset (world_risk_index.csv), handle missing values, and manage data in table format (</a:t>
            </a:r>
            <a:r>
              <a:rPr lang="en-US" sz="1800" dirty="0" err="1">
                <a:latin typeface="Times New Roman" panose="02020603050405020304" pitchFamily="18" charset="0"/>
                <a:cs typeface="Times New Roman" panose="02020603050405020304" pitchFamily="18" charset="0"/>
              </a:rPr>
              <a:t>DataFrames</a:t>
            </a:r>
            <a:r>
              <a:rPr lang="en-US" sz="1800" dirty="0">
                <a:latin typeface="Times New Roman" panose="02020603050405020304" pitchFamily="18" charset="0"/>
                <a:cs typeface="Times New Roman" panose="02020603050405020304" pitchFamily="18" charset="0"/>
              </a:rPr>
              <a:t>).</a:t>
            </a:r>
          </a:p>
          <a:p>
            <a:pPr marL="285750" indent="-285750" algn="just">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NumPy</a:t>
            </a:r>
            <a:r>
              <a:rPr lang="en-US" sz="1800" dirty="0">
                <a:latin typeface="Times New Roman" panose="02020603050405020304" pitchFamily="18" charset="0"/>
                <a:cs typeface="Times New Roman" panose="02020603050405020304" pitchFamily="18" charset="0"/>
              </a:rPr>
              <a:t>  – Used for numerical operations and working with arrays (e.g., converting input into a NumPy array for prediction).</a:t>
            </a:r>
          </a:p>
          <a:p>
            <a:pPr marL="285750" indent="-285750" algn="just">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Scikit-learn</a:t>
            </a:r>
            <a:r>
              <a:rPr lang="en-US" sz="1800" dirty="0">
                <a:latin typeface="Times New Roman" panose="02020603050405020304" pitchFamily="18" charset="0"/>
                <a:cs typeface="Times New Roman" panose="02020603050405020304" pitchFamily="18" charset="0"/>
              </a:rPr>
              <a:t> – The main Machine Learning library.</a:t>
            </a:r>
          </a:p>
          <a:p>
            <a:pPr marL="742950" lvl="1" indent="-285750"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Used for splitting dataset into train/test,</a:t>
            </a:r>
          </a:p>
          <a:p>
            <a:pPr marL="742950" lvl="1" indent="-285750"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Training the </a:t>
            </a:r>
            <a:r>
              <a:rPr lang="en-US" sz="1800" b="1" dirty="0">
                <a:latin typeface="Times New Roman" panose="02020603050405020304" pitchFamily="18" charset="0"/>
                <a:cs typeface="Times New Roman" panose="02020603050405020304" pitchFamily="18" charset="0"/>
              </a:rPr>
              <a:t>Random Forest Classifier</a:t>
            </a:r>
            <a:r>
              <a:rPr lang="en-US" sz="1800" dirty="0">
                <a:latin typeface="Times New Roman" panose="02020603050405020304" pitchFamily="18" charset="0"/>
                <a:cs typeface="Times New Roman" panose="02020603050405020304" pitchFamily="18" charset="0"/>
              </a:rPr>
              <a:t>,</a:t>
            </a:r>
          </a:p>
          <a:p>
            <a:pPr marL="742950" lvl="1" indent="-285750"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Evaluating performance with accuracy, confusion matrix, and classification report.</a:t>
            </a:r>
          </a:p>
          <a:p>
            <a:pPr marL="285750" indent="-285750" algn="just">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Pickle</a:t>
            </a:r>
            <a:r>
              <a:rPr lang="en-US" sz="1800" dirty="0">
                <a:latin typeface="Times New Roman" panose="02020603050405020304" pitchFamily="18" charset="0"/>
                <a:cs typeface="Times New Roman" panose="02020603050405020304" pitchFamily="18" charset="0"/>
              </a:rPr>
              <a:t>  – Used to save the trained ML model (</a:t>
            </a:r>
            <a:r>
              <a:rPr lang="en-US" sz="1800" dirty="0" err="1">
                <a:latin typeface="Times New Roman" panose="02020603050405020304" pitchFamily="18" charset="0"/>
                <a:cs typeface="Times New Roman" panose="02020603050405020304" pitchFamily="18" charset="0"/>
              </a:rPr>
              <a:t>rf_model.pkl</a:t>
            </a:r>
            <a:r>
              <a:rPr lang="en-US" sz="1800" dirty="0">
                <a:latin typeface="Times New Roman" panose="02020603050405020304" pitchFamily="18" charset="0"/>
                <a:cs typeface="Times New Roman" panose="02020603050405020304" pitchFamily="18" charset="0"/>
              </a:rPr>
              <a:t>) and label encoder (</a:t>
            </a:r>
            <a:r>
              <a:rPr lang="en-US" sz="1800" dirty="0" err="1">
                <a:latin typeface="Times New Roman" panose="02020603050405020304" pitchFamily="18" charset="0"/>
                <a:cs typeface="Times New Roman" panose="02020603050405020304" pitchFamily="18" charset="0"/>
              </a:rPr>
              <a:t>label_encoder.pkl</a:t>
            </a:r>
            <a:r>
              <a:rPr lang="en-US" sz="1800" dirty="0">
                <a:latin typeface="Times New Roman" panose="02020603050405020304" pitchFamily="18" charset="0"/>
                <a:cs typeface="Times New Roman" panose="02020603050405020304" pitchFamily="18" charset="0"/>
              </a:rPr>
              <a:t>) so that predictions can be made later without retraining the model.</a:t>
            </a:r>
          </a:p>
          <a:p>
            <a:pPr algn="just">
              <a:buNone/>
            </a:pPr>
            <a:r>
              <a:rPr lang="en-US" sz="1800" b="1" dirty="0">
                <a:latin typeface="Times New Roman" panose="02020603050405020304" pitchFamily="18" charset="0"/>
                <a:cs typeface="Times New Roman" panose="02020603050405020304" pitchFamily="18" charset="0"/>
              </a:rPr>
              <a:t>3. Deployment – Saved ML Model (</a:t>
            </a:r>
            <a:r>
              <a:rPr lang="en-US" sz="1800" b="1" dirty="0" err="1">
                <a:latin typeface="Times New Roman" panose="02020603050405020304" pitchFamily="18" charset="0"/>
                <a:cs typeface="Times New Roman" panose="02020603050405020304" pitchFamily="18" charset="0"/>
              </a:rPr>
              <a:t>rf_model.pkl</a:t>
            </a:r>
            <a:r>
              <a:rPr lang="en-US" sz="1800" b="1"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After training the Random Forest model, it was saved using Pickle.</a:t>
            </a:r>
          </a:p>
          <a:p>
            <a:pPr marL="285750" indent="-285750"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This allows you to </a:t>
            </a:r>
            <a:r>
              <a:rPr lang="en-US" sz="1800" b="1" dirty="0">
                <a:latin typeface="Times New Roman" panose="02020603050405020304" pitchFamily="18" charset="0"/>
                <a:cs typeface="Times New Roman" panose="02020603050405020304" pitchFamily="18" charset="0"/>
              </a:rPr>
              <a:t>reuse the model anytime</a:t>
            </a:r>
            <a:r>
              <a:rPr lang="en-US" sz="1800" dirty="0">
                <a:latin typeface="Times New Roman" panose="02020603050405020304" pitchFamily="18" charset="0"/>
                <a:cs typeface="Times New Roman" panose="02020603050405020304" pitchFamily="18" charset="0"/>
              </a:rPr>
              <a:t> by loading it, instead of training again.</a:t>
            </a:r>
          </a:p>
          <a:p>
            <a:pPr marL="285750" indent="-285750" algn="just">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You also saved the </a:t>
            </a:r>
            <a:r>
              <a:rPr lang="en-US" sz="1800" b="1" dirty="0">
                <a:latin typeface="Times New Roman" panose="02020603050405020304" pitchFamily="18" charset="0"/>
                <a:cs typeface="Times New Roman" panose="02020603050405020304" pitchFamily="18" charset="0"/>
              </a:rPr>
              <a:t>Label Encoder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label_encoder.pkl</a:t>
            </a:r>
            <a:r>
              <a:rPr lang="en-US" sz="1800" dirty="0">
                <a:latin typeface="Times New Roman" panose="02020603050405020304" pitchFamily="18" charset="0"/>
                <a:cs typeface="Times New Roman" panose="02020603050405020304" pitchFamily="18" charset="0"/>
              </a:rPr>
              <a:t>) so the predicted class (like “High” or “Low”) can be correctly converted from numeric form back to text.</a:t>
            </a:r>
          </a:p>
        </p:txBody>
      </p:sp>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03042" y="915621"/>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Rectangle 1">
            <a:extLst>
              <a:ext uri="{FF2B5EF4-FFF2-40B4-BE49-F238E27FC236}">
                <a16:creationId xmlns:a16="http://schemas.microsoft.com/office/drawing/2014/main" id="{B9E0249D-BAD3-8F24-244C-BD7B6B6765A9}"/>
              </a:ext>
            </a:extLst>
          </p:cNvPr>
          <p:cNvSpPr>
            <a:spLocks noChangeArrowheads="1"/>
          </p:cNvSpPr>
          <p:nvPr/>
        </p:nvSpPr>
        <p:spPr bwMode="auto">
          <a:xfrm rot="10800000" flipV="1">
            <a:off x="410547" y="1539665"/>
            <a:ext cx="1014237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 – Importing </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world_risk_index.csv</a:t>
            </a: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Preprocessing – Handling missing values, encoding categorical data</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Selection – Exposure, Vulnerability, Susceptibility, Coping Capacity, Adaptive Capacities, Year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Training – Random Forest Classifier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Model Evaluation – Accuracy, Classification Report, Confusion Matrix</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Deployment – Saving and loading model using Pickle for predictions</a:t>
            </a: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4" name="TextBox 3">
            <a:extLst>
              <a:ext uri="{FF2B5EF4-FFF2-40B4-BE49-F238E27FC236}">
                <a16:creationId xmlns:a16="http://schemas.microsoft.com/office/drawing/2014/main" id="{E8863861-22F4-50CB-8B5F-61583DFE2C2F}"/>
              </a:ext>
            </a:extLst>
          </p:cNvPr>
          <p:cNvSpPr txBox="1"/>
          <p:nvPr/>
        </p:nvSpPr>
        <p:spPr>
          <a:xfrm>
            <a:off x="429208" y="1623527"/>
            <a:ext cx="10758196" cy="378565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increasing occurrence of natural disasters such as floods, cyclones, and earthquakes poses a major risk to countries worldwide. The World Risk Index (WRI) provides a measure of disaster risk by considering factors like exposure, vulnerability, susceptibility, coping capacity, and adaptive capacity. However, analyzing and categorizing this data manually into risk levels such as low, medium, high, or very high is time-consuming, complex, and prone to human error. Policymakers and researchers require a faster, more reliable, and automated approach to predict the WRI category of a </a:t>
            </a:r>
            <a:r>
              <a:rPr lang="en-US" sz="2400" dirty="0" err="1">
                <a:latin typeface="Times New Roman" panose="02020603050405020304" pitchFamily="18" charset="0"/>
                <a:cs typeface="Times New Roman" panose="02020603050405020304" pitchFamily="18" charset="0"/>
              </a:rPr>
              <a:t>acountry</a:t>
            </a:r>
            <a:r>
              <a:rPr lang="en-US" sz="2400" dirty="0">
                <a:latin typeface="Times New Roman" panose="02020603050405020304" pitchFamily="18" charset="0"/>
                <a:cs typeface="Times New Roman" panose="02020603050405020304" pitchFamily="18" charset="0"/>
              </a:rPr>
              <a:t>. Hence, there is a need for a machine learning–based solution that can efficiently classify countries into risk categories and assist in better decision-making for disaster preparedness and management.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71129" y="910303"/>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Rectangle 1">
            <a:extLst>
              <a:ext uri="{FF2B5EF4-FFF2-40B4-BE49-F238E27FC236}">
                <a16:creationId xmlns:a16="http://schemas.microsoft.com/office/drawing/2014/main" id="{574D3896-0F52-4D73-7FF0-7373CA2DF3EF}"/>
              </a:ext>
            </a:extLst>
          </p:cNvPr>
          <p:cNvSpPr>
            <a:spLocks noChangeArrowheads="1"/>
          </p:cNvSpPr>
          <p:nvPr/>
        </p:nvSpPr>
        <p:spPr bwMode="auto">
          <a:xfrm rot="10800000" flipV="1">
            <a:off x="308383" y="1544734"/>
            <a:ext cx="1128023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World Risk Index dataset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disaster risk classification.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Selected important features: </a:t>
            </a:r>
            <a:r>
              <a:rPr kumimoji="0" lang="en-US" altLang="en-US" sz="24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Exposure, Vulnerability, Susceptibility, Coping Capacity, Adaptive Capacity, Year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Applied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Random Forest Classifier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train the model.</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Evaluated model performance using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Accuracy, Classification Report, and Confusion Matrix</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Saved trained model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rf_model.pkl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label encoder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label_encoder.pkl</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Pickle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deployment.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prediction system helps categorize countries into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WRI risk levels (Low, Medium, High, Very High)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 reliable, and scalable solution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policymakers and disaster management</a:t>
            </a:r>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90FE0F47-3C47-BB29-9830-6B0F53711AD4}"/>
              </a:ext>
            </a:extLst>
          </p:cNvPr>
          <p:cNvPicPr>
            <a:picLocks noChangeAspect="1"/>
          </p:cNvPicPr>
          <p:nvPr/>
        </p:nvPicPr>
        <p:blipFill>
          <a:blip r:embed="rId2"/>
          <a:stretch>
            <a:fillRect/>
          </a:stretch>
        </p:blipFill>
        <p:spPr>
          <a:xfrm>
            <a:off x="255104" y="1548882"/>
            <a:ext cx="5299802" cy="4013059"/>
          </a:xfrm>
          <a:prstGeom prst="rect">
            <a:avLst/>
          </a:prstGeom>
        </p:spPr>
      </p:pic>
      <p:pic>
        <p:nvPicPr>
          <p:cNvPr id="6" name="Picture 5">
            <a:extLst>
              <a:ext uri="{FF2B5EF4-FFF2-40B4-BE49-F238E27FC236}">
                <a16:creationId xmlns:a16="http://schemas.microsoft.com/office/drawing/2014/main" id="{185BBD49-DBF6-BC63-612B-CBFAA033A6AE}"/>
              </a:ext>
            </a:extLst>
          </p:cNvPr>
          <p:cNvPicPr>
            <a:picLocks noChangeAspect="1"/>
          </p:cNvPicPr>
          <p:nvPr/>
        </p:nvPicPr>
        <p:blipFill>
          <a:blip r:embed="rId3"/>
          <a:stretch>
            <a:fillRect/>
          </a:stretch>
        </p:blipFill>
        <p:spPr>
          <a:xfrm>
            <a:off x="5979747" y="1548881"/>
            <a:ext cx="5580882" cy="4013059"/>
          </a:xfrm>
          <a:prstGeom prst="rect">
            <a:avLst/>
          </a:prstGeom>
        </p:spPr>
      </p:pic>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4" name="TextBox 3">
            <a:extLst>
              <a:ext uri="{FF2B5EF4-FFF2-40B4-BE49-F238E27FC236}">
                <a16:creationId xmlns:a16="http://schemas.microsoft.com/office/drawing/2014/main" id="{E7C4496B-4CE6-4C7A-1E07-48D29D70455C}"/>
              </a:ext>
            </a:extLst>
          </p:cNvPr>
          <p:cNvSpPr txBox="1"/>
          <p:nvPr/>
        </p:nvSpPr>
        <p:spPr>
          <a:xfrm>
            <a:off x="727787" y="1562855"/>
            <a:ext cx="10105054" cy="378565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This project successfully demonstrates the application of machine learning in predicting the World Risk Index (WRI) category of countries. By using features such as exposure, vulnerability, susceptibility, coping capacity, adaptive capacity, and year, the Random Forest Classifier achieved reliable performance in classifying disaster risk levels. The deployment of the model using Pickle ensures reusability and efficient predictions without the need for retraining. Overall, this automated system provides a fast, accurate, and scalable approach to support policymakers, researchers, and disaster management authorities in assessing global disaster risks and making informed decisions for preparedness and mitigation.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26</TotalTime>
  <Words>758</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Times New Roman</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Karthick Raja K</cp:lastModifiedBy>
  <cp:revision>12</cp:revision>
  <dcterms:created xsi:type="dcterms:W3CDTF">2024-12-31T09:40:01Z</dcterms:created>
  <dcterms:modified xsi:type="dcterms:W3CDTF">2025-09-13T16:42:12Z</dcterms:modified>
</cp:coreProperties>
</file>